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12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105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6217920" y="-274320"/>
            <a:ext cx="3657600" cy="5760720"/>
          </a:xfrm>
          <a:prstGeom prst="homePlate">
            <a:avLst/>
          </a:prstGeom>
          <a:solidFill>
            <a:srgbClr val="7B00D4">
              <a:alpha val="60000"/>
            </a:srgbClr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5400000">
            <a:off x="6766560" y="182880"/>
            <a:ext cx="2926080" cy="5029200"/>
          </a:xfrm>
          <a:prstGeom prst="homePlat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rot="5400000">
            <a:off x="7406640" y="822960"/>
            <a:ext cx="2194560" cy="3566160"/>
          </a:xfrm>
          <a:prstGeom prst="homePlat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IAM</a:t>
            </a:r>
            <a:endParaRPr lang="en-US" sz="36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Copilota Operativo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 Case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7160" y="10972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IAM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Copilota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0" y="4320540"/>
            <a:ext cx="1097280" cy="1097280"/>
          </a:xfrm>
          <a:prstGeom prst="ellipse">
            <a:avLst/>
          </a:prstGeom>
          <a:solidFill>
            <a:srgbClr val="7B00D4">
              <a:alpha val="40000"/>
            </a:srgbClr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83280" y="160020"/>
            <a:ext cx="5577840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assistente AI che affianca il team IAM: riceve richieste in linguaggio naturale, propone un piano d'azione con valutazione del rischio ed esegue le operazioni sicure in autonomia, chiedendo conferma per quelle critiche.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5577840" cy="1245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comprende la richiesta, costruisce un piano operativo passo per passo con il rischio di ogni azione, esegue in autonomia le operazioni sicure e chiede approvazione per quelle ad impatto elevato.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617470"/>
            <a:ext cx="5577840" cy="10081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IAM </a:t>
            </a:r>
            <a:r>
              <a:rPr lang="en-US" sz="16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grandi volumi di richieste di accesso, onboarding/offboarding utenti e audit di conformità su ambienti Microsoft Entra ID e SailPoint.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3634740"/>
            <a:ext cx="5577840" cy="1065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tempo su attività ripetitive, processi JML automatizzati, conformità continua e tracciabilità completa di ogni azione — con l'operatore sempre in controllo sulle decisioni critiche.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-182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3886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team IAM è sommerso da operazioni manuali, rischi non visibili e processi frammentati.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64008" cy="1783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Reattivo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manuale dei Sign-in Logs: MTTR medio 45–90 min per ticket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manuale tra MFA, Conditional Access e stato account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root-cause automatica: ogni caso riparte da zero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64008" cy="178308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46320" y="11430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non Governato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43560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Joiner/Mover/Leaver gestiti con ticket manuali e script ad-hoc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Ritardi di provisioning (giorni) e deprovisioning incompleto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orfani e permessi residui: attack surface aperta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28600" y="3017520"/>
            <a:ext cx="64008" cy="178308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65760" y="3108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Reattiva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40156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 massivi senza contestualizzazione del rischio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rilevamento automatico di anomalie e privilege drift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frammentati: ricostruzione manuale per compliance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297680" cy="1783080"/>
          </a:xfrm>
          <a:prstGeom prst="rect">
            <a:avLst/>
          </a:prstGeom>
          <a:solidFill>
            <a:srgbClr val="F3E8FF"/>
          </a:solidFill>
          <a:ln w="1905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64008" cy="178308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3108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Visibilità NHI Assente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401568"/>
            <a:ext cx="4069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Principal, Managed Identity e API Key senza owner noto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eccessivo su NHI non monitorato continuativamente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Scadenze di credenziali silenti → interruzioni di produzione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agentale che copre l'intero ciclo operativo IAM — dal linguaggio naturale all'esecuzione su API.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011680" cy="137160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5603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85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Prompt Firewall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9456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331720" y="960120"/>
            <a:ext cx="2011680" cy="137160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0487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0487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85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Assessment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480560" y="960120"/>
            <a:ext cx="2011680" cy="13716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5371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7616" y="1545336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Control</a:t>
            </a:r>
            <a:endParaRPr lang="en-US" sz="85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 sicura e controllata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1645920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629400" y="960120"/>
            <a:ext cx="2011680" cy="137160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702552" y="10058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02552" y="171907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Azioni critiche</a:t>
            </a:r>
            <a:endParaRPr lang="en-US" sz="85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82880" y="2651760"/>
            <a:ext cx="2011680" cy="27432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5603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Discovery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NHI &amp; Human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SailPoint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3172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331720" y="2651760"/>
            <a:ext cx="2011680" cy="27432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40487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0487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SoD, Certif., Least Priv.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Rilevamento drift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8056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480560" y="2651760"/>
            <a:ext cx="2011680" cy="27432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55371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Agent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53712" y="2962656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/ Mover / Leaver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→ Entra ID → ISC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29400" y="2651760"/>
            <a:ext cx="2011680" cy="1188720"/>
          </a:xfrm>
          <a:prstGeom prst="rect">
            <a:avLst/>
          </a:prstGeom>
          <a:solidFill>
            <a:srgbClr val="F3E8FF"/>
          </a:solidFill>
          <a:ln w="1524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629400" y="2651760"/>
            <a:ext cx="201168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702552" y="2660904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Audit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02552" y="2962656"/>
            <a:ext cx="18836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anomalie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immutabile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82880" y="3977640"/>
            <a:ext cx="8778240" cy="731520"/>
          </a:xfrm>
          <a:prstGeom prst="rect">
            <a:avLst/>
          </a:prstGeom>
          <a:solidFill>
            <a:srgbClr val="FFF7ED"/>
          </a:solidFill>
          <a:ln w="1016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20040" y="40416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MLSecOps — Controlli Trasversali: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51760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Firewall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242816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833872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Handler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424928" y="411480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720C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Audit Completo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280160" cy="228600"/>
          </a:xfrm>
          <a:prstGeom prst="rect">
            <a:avLst/>
          </a:prstGeom>
          <a:solidFill>
            <a:srgbClr val="7B00D4"/>
          </a:solidFill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Org Internal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il sistema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livelli cooperano in sequenza: dall'interfaccia utente all'esecuzione sicura delle operazioni IAM, con approvazione umana e tracciabilità completa.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59436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– Interfaccia Operatore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234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 linguaggio naturale  ·  Dashboard KPI  ·  Gestione Ticket  ·  Metriche SLA  ·  Catalogo Applicazioni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1691640"/>
            <a:ext cx="8686800" cy="132588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7472" y="1737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– Intelligenza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19659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Comprensione della richiesta  →  Pianificazione con valutazione del rischio  →  Esecuzione controllata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operativi: Gestione Identità  |  Operazioni IAM  |  Controllo SoD  |  Approvazione Operatore  |  Registro Azioni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Controlli: Filtro richieste non ammesse  |  Rischio LOW eseguito in auto / MEDIUM-HIGH → Richiesta Conferma  |  Soglia di affidabilità  |  Perimetro operativo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154680"/>
            <a:ext cx="8686800" cy="68580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7472" y="3200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– Backend &amp; Configurazione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applicativo leggero (zero dipendenze esterne)  ·  AI generativa Anthropic Claude (opzionale, con modalità demo senza connessione)  ·  Regole di business configurabili (rischio, SoD, catalogo app, governance)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8600" y="3977640"/>
            <a:ext cx="8686800" cy="6858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47472" y="4023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– Dati &amp; Persistenza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4251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utenti simulati (Entra ID + SailPoint)  ·  Registro azioni immutabile (una riga per ogni evento)  ·  Sessioni e flussi autorizzativi in memoria  ·  Workflow RG/RPA gestiti internamente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480560" y="157276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480560" y="303580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480560" y="3858768"/>
            <a:ext cx="0" cy="118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498079" y="594360"/>
            <a:ext cx="1280160" cy="384048"/>
          </a:xfrm>
          <a:prstGeom prst="roundRect">
            <a:avLst/>
          </a:prstGeom>
          <a:solidFill>
            <a:srgbClr val="F5F1FA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C0082"/>
                </a:solidFill>
              </a:rPr>
              <a:t>PoC locale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77724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viene gestita una richiesta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977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richiesta percorre quattro stadi: comprensione, pianificazione, esecuzione e approvazione — con tracciatura completa di ogni azione.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011680" cy="320040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2860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Comprensione Richiesta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2860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generativa o regole locali</a:t>
            </a:r>
            <a:endParaRPr lang="en-US" sz="300" dirty="0"/>
          </a:p>
        </p:txBody>
      </p:sp>
      <p:sp>
        <p:nvSpPr>
          <p:cNvPr id="12" name="Shape 10"/>
          <p:cNvSpPr/>
          <p:nvPr/>
        </p:nvSpPr>
        <p:spPr>
          <a:xfrm>
            <a:off x="18288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74320" y="1536192"/>
            <a:ext cx="18745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Filtra richieste fuori dal perimetro operativo DL IAM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cosa si chiede, per quale utente e con quale applicazione (20 scenari, 4 ambiti operativi)</a:t>
            </a:r>
            <a:endParaRPr lang="en-US" sz="1000" dirty="0"/>
          </a:p>
          <a:p>
            <a:pPr>
              <a:buSzPct val="100000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Passa la richiesta strutturata al modulo di pianificazione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331720" y="960120"/>
            <a:ext cx="2011680" cy="320040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37744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Pianificazione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37744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generativa o regole configurabili</a:t>
            </a:r>
            <a:endParaRPr lang="en-US" sz="300" dirty="0"/>
          </a:p>
        </p:txBody>
      </p:sp>
      <p:sp>
        <p:nvSpPr>
          <p:cNvPr id="19" name="Shape 17"/>
          <p:cNvSpPr/>
          <p:nvPr/>
        </p:nvSpPr>
        <p:spPr>
          <a:xfrm>
            <a:off x="233172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 sz="1200"/>
          </a:p>
        </p:txBody>
      </p:sp>
      <p:sp>
        <p:nvSpPr>
          <p:cNvPr id="20" name="Text 18"/>
          <p:cNvSpPr/>
          <p:nvPr/>
        </p:nvSpPr>
        <p:spPr>
          <a:xfrm>
            <a:off x="2423160" y="1473708"/>
            <a:ext cx="18745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ogni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basso (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automatico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medio o alto (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  <a:p>
            <a:pPr>
              <a:buSzPct val="100000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Produce un piano con cause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radice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ragionamento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950" dirty="0"/>
          </a:p>
          <a:p>
            <a:pPr>
              <a:buSzPct val="100000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Passa il piano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all'esecutore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indicazioni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reversibilità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ogni azione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480560" y="960120"/>
            <a:ext cx="2011680" cy="320040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2628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2628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di esecuzione con controllo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03420" y="1449323"/>
            <a:ext cx="1874520" cy="1604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Azioni a basso rischio: eseguite in autonomia (abilitazione account, verifica profilo, lettura stato)</a:t>
            </a:r>
            <a:endParaRPr lang="en-US" sz="950" dirty="0"/>
          </a:p>
          <a:p>
            <a:pPr>
              <a:buSzPct val="100000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Azioni a rischio medio/alto: sospese in attesa di approvazione esplicita dell'operatore</a:t>
            </a:r>
            <a:endParaRPr lang="en-US" sz="950" dirty="0"/>
          </a:p>
          <a:p>
            <a:pPr>
              <a:buSzPct val="100000"/>
            </a:pP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1709928"/>
            <a:ext cx="320040" cy="0"/>
          </a:xfrm>
          <a:prstGeom prst="line">
            <a:avLst/>
          </a:prstGeom>
          <a:noFill/>
          <a:ln w="190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629400" y="960120"/>
            <a:ext cx="2011680" cy="320040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675120" y="9692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Approvazione Operatore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29400" y="1280160"/>
            <a:ext cx="2011680" cy="201168"/>
          </a:xfrm>
          <a:prstGeom prst="rect">
            <a:avLst/>
          </a:prstGeom>
          <a:solidFill>
            <a:srgbClr val="F3E8FF"/>
          </a:solidFill>
          <a:ln w="635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675120" y="128930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di approvazione integrata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1481328"/>
            <a:ext cx="2011680" cy="1371600"/>
          </a:xfrm>
          <a:prstGeom prst="rect">
            <a:avLst/>
          </a:prstGeom>
          <a:solidFill>
            <a:srgbClr val="F9F5FF"/>
          </a:solidFill>
          <a:ln w="1016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697980" y="1463041"/>
            <a:ext cx="1874520" cy="1517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approva o rifiuta direttamente dalla chat, con contesto completo dell'azione</a:t>
            </a:r>
            <a:endParaRPr lang="en-US" sz="950" dirty="0"/>
          </a:p>
          <a:p>
            <a:pPr>
              <a:buSzPct val="100000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Ogni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approvata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rifiutata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registrata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</a:t>
            </a: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log.</a:t>
            </a:r>
            <a:endParaRPr lang="en-US" sz="950" dirty="0"/>
          </a:p>
          <a:p>
            <a:pPr>
              <a:buSzPct val="100000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 caso di mancata risposta, il flusso viene sospeso automaticamente e l'operatore viene avvisato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" y="2971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Dispatch dall'Orchestrator: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291840"/>
            <a:ext cx="1463040" cy="292608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74320" y="3310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Discovery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91640" y="329184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783080" y="332841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 e aggiornamento delle identità utente — account cloud, sincronizzati, guest, outsourcer e non-human identity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3657600"/>
            <a:ext cx="1463040" cy="292608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4320" y="3675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Agent (JML)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91640" y="365760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783080" y="369417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 ciclo di vita utente: onboarding, cambio ruolo e offboarding con provisioning/deprovisioning automatico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023360"/>
            <a:ext cx="1463040" cy="2926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274320" y="4041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 Agent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91640" y="402336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783080" y="405993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Segregation of Duties con 7 regole di compliance (SOX, NIS2, GDPR, DORA, ISO27001) e rilevamento permessi in eccesso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" y="4389120"/>
            <a:ext cx="146304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274320" y="4407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Audit Agent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91640" y="4389120"/>
            <a:ext cx="7315200" cy="292608"/>
          </a:xfrm>
          <a:prstGeom prst="rect">
            <a:avLst/>
          </a:prstGeom>
          <a:solidFill>
            <a:srgbClr val="F3E8FF"/>
          </a:solidFill>
          <a:ln w="6350">
            <a:solidFill>
              <a:srgbClr val="B91C1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783080" y="4425696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immutabile di ogni azione; rilevamento anomalie (accesso impossibile, attività notturna sospetta, account guest scaduto)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Operational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2608" y="5913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"Mario Rossi non riesce ad </a:t>
            </a:r>
            <a:r>
              <a:rPr lang="en-US" sz="1400" i="1" dirty="0" err="1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accedere</a:t>
            </a:r>
            <a:r>
              <a:rPr lang="en-US" sz="14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SAP" dal messaggio in chat alla risoluzione, passo dopo passo.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75488" cy="475488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8288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Conversazionale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scrive in chat: "Mario Rossi non riesce ad accedere a SAP". Il sistema identifica il tipo di problema, l'utente coinvolto e il contesto, senza bisogno di form o ticket strutturati.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182112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182112" y="960120"/>
            <a:ext cx="475488" cy="475488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182112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12464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analizza lo stato dell'account, il profilo applicativo, le policy di accesso e le credenziali. Genera un piano in pochi secondi con le cause radice e le azioni necessarie.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96012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81344" y="960120"/>
            <a:ext cx="475488" cy="47548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181344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11696" y="10058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91072" y="150876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viene classificata per impatto: verifica stato account (basso rischio, automatica), rimozione blocco policy (rischio medio, richiede approvazione). Solo piani con affidabilità sufficiente vengono eseguiti.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82880" y="2926080"/>
            <a:ext cx="475488" cy="475488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82880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L'azione critica viene sospesa e presentata all'operatore con una spiegazione chiara. Con un clic approva o rifiuta. Se non risponde entro il tempo limite, il flusso si ferma automaticamente.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82112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1A7A4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182112" y="2926080"/>
            <a:ext cx="475488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182112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12464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Automatizzata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91840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l'approvazione, il sistema esegue: riabilita l'account, rimuove il blocco dalla policy di accesso condizionale, assegna il profilo SAP corretto. Ogni operazione è reversibile.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81344" y="2926080"/>
            <a:ext cx="283464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555555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181344" y="2926080"/>
            <a:ext cx="475488" cy="47548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181344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11696" y="297180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</a:t>
            </a:r>
            <a:endParaRPr lang="en-US" sz="1050" dirty="0"/>
          </a:p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1072" y="3474720"/>
            <a:ext cx="2651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azione viene registrata nel log immutabile con data, tipo, esito e operatore responsabile. Dashboard e metriche SLA si aggiornano in tempo reale. Il caso è chiuso.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c'è dentro il PoC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48006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completamente autonomo e avviabile in locale — nessuna dipendenza esterna, dati simulati realistici, AI opzionale. Pronto da dimostrare in pochi secondi.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297680" cy="301752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74320" y="978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Applicativo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0759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leggero senza dipendenze esterne — avviabile su qualsiasi macchina con Node.js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interfacce web integrate: chat operativa, dashboard KPI, gestione ticket, metriche SLA, catalogo applicazioni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 e flussi autorizzativi gestiti in memoria — architettura semplice, ideale per la fase PoC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Avvio in un comando — nessuna installazione, nessuna configurazione preliminare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297680" cy="301752"/>
          </a:xfrm>
          <a:prstGeom prst="rect">
            <a:avLst/>
          </a:prstGeom>
          <a:solidFill>
            <a:srgbClr val="7B00D4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54880" y="978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Intelligenza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0759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con Anthropic Claude Sonnet 4 per comprensione del linguaggio naturale e pianificazione (modalità Live)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Demo autonoma: funziona senza connessione AI, con riconoscimento di 20 scenari operativi e nomi italiani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moduli AI in pipeline: comprensione richiesta, pianificazione con rischio, esecuzione controllata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di affidabilità configurabile: piani con fiducia insufficiente vengono segnalati per revisione manuale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92608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4297680" cy="301752"/>
          </a:xfrm>
          <a:prstGeom prst="rect">
            <a:avLst/>
          </a:prstGeom>
          <a:solidFill>
            <a:srgbClr val="3D0070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74320" y="2944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&amp; Scenari Demo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27355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simulato con utenti realistici: account bloccato, leaver in corso, accesso anomalo notturno, impossible travel, guest in scadenza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azioni immutabile: ogni operazione viene tracciata con data, tipo, livello di rischio, esito e operatore responsabile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di business configurabili: matrice di rischio, regole SoD, catalogo applicazioni, governance dei processi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applicazioni certificate con profili di accesso a rischio crescente: sola lettura, operativo, manager, amministratore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297680" cy="1783080"/>
          </a:xfrm>
          <a:prstGeom prst="rect">
            <a:avLst/>
          </a:prstGeom>
          <a:solidFill>
            <a:srgbClr val="F3E8FF"/>
          </a:solidFill>
          <a:ln w="1524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297680" cy="301752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0" y="2944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&amp; Controllo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27355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automatico: le richieste fuori perimetro </a:t>
            </a:r>
            <a:r>
              <a:rPr lang="en-US" sz="10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vengono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bloccate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prima di qualsiasi elaborazione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ambiti operativi definiti: DL IAM, reindirizzamento PIM, supporto applicativo GA, IAM on-premise — perimetro sempre rispettato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regole di Segregation of Duties taggiate per framework di compliance (SOX, NIS2, GDPR, DORA, ISO27001) con rilevamento automatico delle violazioni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operazione è classificata come reversibile o irreversibile prima dell'esecuzione — l'operatore sa sempre cosa sta approvando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C0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Benefits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attesi del PoC — misurabile, tracciabile, pronto per il passo production.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914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2880" y="49103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88888"/>
                </a:solidFill>
              </a:rPr>
              <a:t>&gt;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9103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</a:rPr>
              <a:t>Copyright © 2026 Accenture. All rights reserved.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3D0070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D0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analisi manuale di 45–90 min a piano operativo generato in secondi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6888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B0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Tracciabilità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operazione registrata in modo permanente con chi, cosa, quando e perché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 per audit di compliance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0D6E8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66344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JML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automatizzato: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Joiner/Mover/Leaver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005840"/>
            <a:ext cx="2011680" cy="1737360"/>
          </a:xfrm>
          <a:prstGeom prst="rect">
            <a:avLst/>
          </a:prstGeom>
          <a:solidFill>
            <a:srgbClr val="F3E8FF"/>
          </a:solidFill>
          <a:ln w="12700">
            <a:solidFill>
              <a:srgbClr val="1A7A4A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0" y="107899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orfani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0299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Deprovisioning completo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24h da Leaver HR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7432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Continuo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344728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continuo dei permessi: violazioni SoD e accessi in eccesso rilevati automaticamente ad ogni richiesta, su 5 framework di compliance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46888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Strategico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68880" y="3493008"/>
            <a:ext cx="1828800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approva solo le azioni critiche. Tutto il resto viene gestito in autonomia — meno interruzioni, più controllo dove conta davvero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6344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 Governance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341680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Visibilità completa sulle identità non-umane (service account, automazioni) — credenziali scadute, account senza owner e accessi inattivi rilevati in automatico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2834640"/>
            <a:ext cx="2011680" cy="1600200"/>
          </a:xfrm>
          <a:prstGeom prst="rect">
            <a:avLst/>
          </a:prstGeom>
          <a:solidFill>
            <a:srgbClr val="F9F5FF"/>
          </a:solidFill>
          <a:ln w="6350">
            <a:solidFill>
              <a:srgbClr val="7B00D4"/>
            </a:solidFill>
            <a:prstDash val="solid"/>
          </a:ln>
        </p:spPr>
        <p:txBody>
          <a:bodyPr wrap="square" anchor="t"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58000" y="2898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0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0" y="351586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decisione auditabile per SOX, NIS2, DORA, GDPR e ISO27001 — il ragionamento del sistema e la possibilità di rollback sono sempre registrati</a:t>
            </a:r>
            <a:endParaRPr lang="en-US" sz="1000" dirty="0"/>
          </a:p>
        </p:txBody>
      </p:sp>
      <p:sp>
        <p:nvSpPr>
          <p:cNvPr id="36" name="Rounded Rectangle 35"/>
          <p:cNvSpPr/>
          <p:nvPr/>
        </p:nvSpPr>
        <p:spPr>
          <a:xfrm>
            <a:off x="7068170" y="36576"/>
            <a:ext cx="2011680" cy="329184"/>
          </a:xfrm>
          <a:prstGeom prst="roundRect">
            <a:avLst/>
          </a:prstGeom>
          <a:solidFill>
            <a:srgbClr val="4C0082"/>
          </a:solidFill>
          <a:ln>
            <a:solidFill>
              <a:srgbClr val="4C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Outcome attesi del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1750</Words>
  <Application>Microsoft Office PowerPoint</Application>
  <PresentationFormat>On-screen Show (16:9)</PresentationFormat>
  <Paragraphs>211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IAM – Copilota Operativo IAM</dc:title>
  <dc:subject>PptxGenJS Presentation</dc:subject>
  <dc:creator>Daniele De Cinque</dc:creator>
  <cp:lastModifiedBy>De Cinque, Daniele</cp:lastModifiedBy>
  <cp:revision>3</cp:revision>
  <dcterms:created xsi:type="dcterms:W3CDTF">2026-04-30T11:17:22Z</dcterms:created>
  <dcterms:modified xsi:type="dcterms:W3CDTF">2026-05-15T14:24:43Z</dcterms:modified>
</cp:coreProperties>
</file>