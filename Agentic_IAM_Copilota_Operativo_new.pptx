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105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6217920" y="-274320"/>
            <a:ext cx="3657600" cy="5760720"/>
          </a:xfrm>
          <a:prstGeom prst="homePlate">
            <a:avLst/>
          </a:prstGeom>
          <a:solidFill>
            <a:srgbClr val="7B00D4">
              <a:alpha val="60000"/>
            </a:srgbClr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5400000">
            <a:off x="6766560" y="182880"/>
            <a:ext cx="2926080" cy="5029200"/>
          </a:xfrm>
          <a:prstGeom prst="homePlat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5400000">
            <a:off x="7406640" y="822960"/>
            <a:ext cx="2194560" cy="3566160"/>
          </a:xfrm>
          <a:prstGeom prst="homePlat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IAM</a:t>
            </a:r>
            <a:endParaRPr lang="en-US" sz="36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Copilota Operativo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 Case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7160" y="10972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IAM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Copilota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377440" y="4206240"/>
            <a:ext cx="1097280" cy="1097280"/>
          </a:xfrm>
          <a:prstGeom prst="ellipse">
            <a:avLst/>
          </a:prstGeom>
          <a:solidFill>
            <a:srgbClr val="7B00D4">
              <a:alpha val="40000"/>
            </a:srgbClr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83280" y="5029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Agire come Copilota Operativo per il team IAM su Microsoft Entra ID, automatizzando troubleshooting, lifecycle e governance con piena tracciabilità.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(Conversational → Planner → Orchestrator) integrato con MS Graph API, SailPoint e SIEM, con Human-in-the-Loop per azioni ad alto rischio.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Contesti enterprise con Entra ID + SailPoint ISC; team IAM che gestiscono volumi elevati di ticket, provisioning JML e audit di compliance (NIS2, DORA, GDPR).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MTTR del troubleshooting, automazione JML, governance continua Least Privilege, audit trail immutabile su Sentinel, escalation human-in-the-loop per azioni critiche.</a:t>
            </a:r>
            <a:endParaRPr lang="en-US" sz="1100" dirty="0"/>
          </a:p>
        </p:txBody>
      </p:sp>
      <p:sp>
        <p:nvSpPr>
          <p:cNvPr id="13" name="Rounded Rectangle 12"/>
          <p:cNvSpPr/>
          <p:nvPr/>
        </p:nvSpPr>
        <p:spPr>
          <a:xfrm>
            <a:off x="7223760" y="4892040"/>
            <a:ext cx="1828800" cy="914400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4C0082"/>
                </a:solidFill>
              </a:rPr>
              <a:t>Focus del PoC</a:t>
            </a:r>
          </a:p>
          <a:p>
            <a:pPr algn="ctr"/>
            <a:r>
              <a:rPr sz="1100">
                <a:solidFill>
                  <a:srgbClr val="6E6E6E"/>
                </a:solidFill>
              </a:rPr>
              <a:t>Troubleshooting, JML, governance NHI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-182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3886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team IAM è sommerso da operazioni manuali, rischi non visibili e processi frammentati.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64008" cy="1783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Reattivo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manuale dei Sign-in Logs: MTTR medio 45–90 min per ticket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manuale tra MFA, Conditional Access e stato account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root-cause automatica: ogni caso riparte da zero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64008" cy="178308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46320" y="11430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non Governato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3560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Joiner/Mover/Leaver gestiti con ticket manuali e script ad-hoc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Ritardi di provisioning (giorni) e deprovisioning incompleto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orfani e permessi residui: attack surface aperta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64008" cy="178308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5760" y="3108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Reattiva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40156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 massivi senza contestualizzazione del rischio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rilevamento automatico di anomalie e privilege drift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frammentati: ricostruzione manuale per compliance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64008" cy="17830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3108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Visibilità NHI Assente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40156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Principal, Managed Identity e API Key senza owner noto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eccessivo su NHI non monitorato continuativamente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Scadenze di credenziali silenti → interruzioni di produzione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agentale che copre l'intero ciclo operativo IAM — dal linguaggio naturale all'esecuzione su API.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011680" cy="137160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5603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85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Prompt Firewall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331720" y="960120"/>
            <a:ext cx="2011680" cy="137160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0487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0487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85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Assessment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480560" y="960120"/>
            <a:ext cx="2011680" cy="13716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5371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371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Control</a:t>
            </a:r>
            <a:endParaRPr lang="en-US" sz="85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MS Graph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29400" y="960120"/>
            <a:ext cx="2011680" cy="13716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0255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0255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critiche</a:t>
            </a:r>
            <a:endParaRPr lang="en-US" sz="85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HIGH RISK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82880" y="2651760"/>
            <a:ext cx="2011680" cy="27432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5603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Discovery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NHI &amp; Human</a:t>
            </a:r>
            <a:endParaRPr lang="en-US" sz="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SailPoint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3172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331720" y="2651760"/>
            <a:ext cx="2011680" cy="27432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40487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0487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SoD, Certif., Least Priv.</a:t>
            </a:r>
            <a:endParaRPr lang="en-US" sz="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Rilevamento drift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480560" y="2651760"/>
            <a:ext cx="2011680" cy="27432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55371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Agent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5371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/ Mover / Leaver</a:t>
            </a:r>
            <a:endParaRPr lang="en-US" sz="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→ Entra ID → ISC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629400" y="2651760"/>
            <a:ext cx="201168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70255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Audit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0255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anomalie</a:t>
            </a:r>
            <a:endParaRPr lang="en-US" sz="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SIEM log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3977640"/>
            <a:ext cx="8778240" cy="731520"/>
          </a:xfrm>
          <a:prstGeom prst="rect">
            <a:avLst/>
          </a:prstGeom>
          <a:solidFill>
            <a:srgbClr val="FFF7ED"/>
          </a:solidFill>
          <a:ln w="1016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20040" y="40416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MLSecOps — Controlli Trasversali: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51760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Firewall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242816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833872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Handler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424928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Sentinel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– High Level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Conversational (Input) → Planner (Logica) → Orchestrator (Esecuzione MS Graph API) → Sub-Agents → SIEM.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59436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– Interfaccia / 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234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 ·  Self-Service Portal  ·  API / CLI  ·  ServiceNow Ticketing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1691640"/>
            <a:ext cx="8686800" cy="132588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" y="1737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– Agentic AI IAM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19659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  →  Planner Agent  →  Orchestrator 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Sub-agents: Identity Discovery  |  Access Review  |  Lifecycle (JML)  |  Anomaly &amp; Audit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MLSecOps: Prompt Firewall  |  Output Validation  |  Fallback  |  HITL Approval Gate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8686800" cy="6858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7472" y="3200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– IAM Security 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(Graph API, PIM, Conditional Access, MFA, Sign-in Logs)  ·  SailPoint ISC (REST API, Sources, Access Profiles, Certifications)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8600" y="3977640"/>
            <a:ext cx="8686800" cy="6858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47472" y="4023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– Target Systems &amp; Audit Trail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4251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/ AD  ·  HR System (Workday/SAP)  ·  App Enterprise (SaaS/on-prem)  ·  Audit/SIEM: Sentinel / Splunk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480560" y="157276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480560" y="303580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480560" y="385876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498079" y="594360"/>
            <a:ext cx="1280160" cy="384048"/>
          </a:xfrm>
          <a:prstGeom prst="roundRect">
            <a:avLst/>
          </a:prstGeom>
          <a:solidFill>
            <a:srgbClr val="F5F1FA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C0082"/>
                </a:solidFill>
              </a:rPr>
              <a:t>4 layer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Interaction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richiesta attraversa 4 agenti con checkpoint HITL per azioni critiche e audit trail su ogni step.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011680" cy="32004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2860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2860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– NLP Intake</a:t>
            </a:r>
            <a:endParaRPr lang="en-US" sz="300" dirty="0"/>
          </a:p>
        </p:txBody>
      </p:sp>
      <p:sp>
        <p:nvSpPr>
          <p:cNvPr id="12" name="Shape 10"/>
          <p:cNvSpPr/>
          <p:nvPr/>
        </p:nvSpPr>
        <p:spPr>
          <a:xfrm>
            <a:off x="18288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74320" y="1536192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Firewall in input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Raccoglie: intent, entità, contesto utente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request → Planner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19456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331720" y="960120"/>
            <a:ext cx="2011680" cy="32004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37744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37744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– tool use</a:t>
            </a:r>
            <a:endParaRPr lang="en-US" sz="300" dirty="0"/>
          </a:p>
        </p:txBody>
      </p:sp>
      <p:sp>
        <p:nvSpPr>
          <p:cNvPr id="19" name="Shape 17"/>
          <p:cNvSpPr/>
          <p:nvPr/>
        </p:nvSpPr>
        <p:spPr>
          <a:xfrm>
            <a:off x="233172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 sz="1200"/>
          </a:p>
        </p:txBody>
      </p:sp>
      <p:sp>
        <p:nvSpPr>
          <p:cNvPr id="20" name="Text 18"/>
          <p:cNvSpPr/>
          <p:nvPr/>
        </p:nvSpPr>
        <p:spPr>
          <a:xfrm>
            <a:off x="2423160" y="1536192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rischio &amp; confidence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 task con flag critici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plan JSON → Orchestrator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480560" y="960120"/>
            <a:ext cx="2011680" cy="3200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2628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2628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– task queue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72000" y="1536192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esecuzione sub-agents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su flag critico → HITL Gate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pre-esecuzione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9224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629400" y="960120"/>
            <a:ext cx="2011680" cy="32004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67512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Approval Gate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2940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67512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/ Portal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720840" y="1536192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 link approve/reject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loggata (approved/rejected)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notify operatore se timeout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28600" y="2971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Dispatch dall'Orchestrator: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291840"/>
            <a:ext cx="1463040" cy="292608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74320" y="3310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Discovery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91640" y="329184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783080" y="332841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/servicePrincipals, /users, /applications → inventory NHI &amp; Human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657600"/>
            <a:ext cx="1463040" cy="292608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4320" y="3675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Agent (JML)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91640" y="365760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783080" y="369417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event → SCIM → provisioning/deprovisioning Entra ID + SailPoint ISC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4023360"/>
            <a:ext cx="1463040" cy="2926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274320" y="4041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 Agent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91640" y="402336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783080" y="405993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check, entitlement drift, certification campaign automatica su SailPoint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" y="4389120"/>
            <a:ext cx="146304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274320" y="4407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Audit Agent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91640" y="438912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783080" y="442569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logs + risky users → correlazione → alert Sentinel / KQL Analytics Rules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Operational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troubleshooting login failure — dal ticket in linguaggio naturale all'azione risolutiva loggata su Sentinel.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75488" cy="475488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8288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Conversazionale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Utente: 'Mario Rossi non riesce ad accedere.' — Conversational Agent raccoglie UPN, timestamp, errore specifico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182112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182112" y="960120"/>
            <a:ext cx="475488" cy="475488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182112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12464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Agent: incrocia sign-in logs, stato account, MFA, CAP. Confidence score: 0.89. Piano: 3 azioni + 1 HITL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81344" y="960120"/>
            <a:ext cx="475488" cy="47548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181344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11696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91072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valida ogni step: azioni low-risk automatizzabili, flag critico su reset MFA per Global Admin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82880" y="2926080"/>
            <a:ext cx="475488" cy="475488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82880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critiche sospese: operatore riceve link JWT firmato su Slack. Approve/Reject in &lt; 2 min. Audit loggato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82112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1A7A4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182112" y="2926080"/>
            <a:ext cx="475488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182112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12464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Automatizzata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91840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API: PATCH /users/{id} (enable account), POST /resetPassword, PUT /conditionalAccessPolicies exclusion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555555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181344" y="2926080"/>
            <a:ext cx="475488" cy="4754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181344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11696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1072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→ Sentinel: action_id, agent_tier, approver, rollback_payload, timestamp. Ticket chiuso automaticamente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Prerequisiti &amp; 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ciò che serve prima di avviare il PoC — requisiti tecnici, accessi e tool chain.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297680" cy="3017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74320" y="978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0759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Entra ID con licenza P1/P2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 con permessi Graph API: User.ReadWrite.All, Policy.ReadWrite.ConditionalAccess, PrivilegedAccess.ReadWrite.AzureAD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ai Sign-in Logs e Risky Users (Microsoft Defender for Identity)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configurato per ruoli privilegiati (Global Admin, User Admin)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297680" cy="301752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54880" y="978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ISC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0759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SailPoint IdentityNow con API abilitata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 credentials per REST API (POST /v3/sources, /v3/certifications)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Connettori AD e HR system (Workday/SAP) già configurati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Entitlement schema definito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92608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4297680" cy="301752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74320" y="2944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Agentale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27355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 — modello claude-sonnet-4 con tool use abilitato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Node.js/Python: state machine, task queue, vault proxy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 (Azure Key Vault / HashiCorp Vault) per credenziali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store: Azure Log Analytics + Microsoft Sentinel workspace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297680" cy="301752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0" y="2944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&amp; Compliance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27355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webhook: canale Slack/Teams + signed JWT link per approve/reject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Analytics Rules su Sentinel per correlazione anomalie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rischio/automazione definita (azioni auto vs HITL obbligatorio)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outbound HTTPS verso graph.microsoft.com, api.anthropic.com, ISC API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Benefits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Continuo, tracciabile, sicuro — e in miglioramento autonomo.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login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60 min a &lt; 10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6888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Tracciabilità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</a:t>
            </a:r>
            <a:r>
              <a:rPr lang="en-US" sz="10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Sentinel con rollback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66344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JML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automatizzato: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Joiner/Mover/Leaver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1A7A4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orfani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Deprovisioning completo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24h da Leaver HR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7432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Continuo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3566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 automatico con SoD check e revoca permessi obsoleti in tempo reale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46888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Strategico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68880" y="3493008"/>
            <a:ext cx="1828800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solo per azioni ad alto rischio — l'operatore decide, non lavora manualmente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6344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Governance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323697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e monitoring continuo di Service Principal, Managed Identity e API Key senza owner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5800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0" y="323697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decisione auditabile per NIS2, DORA, GDPR: reasoning trace + rollback_payload su ogni azione</a:t>
            </a:r>
            <a:endParaRPr lang="en-US" sz="1000" dirty="0"/>
          </a:p>
        </p:txBody>
      </p:sp>
      <p:sp>
        <p:nvSpPr>
          <p:cNvPr id="36" name="Rounded Rectangle 35"/>
          <p:cNvSpPr/>
          <p:nvPr/>
        </p:nvSpPr>
        <p:spPr>
          <a:xfrm>
            <a:off x="7068170" y="36576"/>
            <a:ext cx="2011680" cy="329184"/>
          </a:xfrm>
          <a:prstGeom prst="roundRect">
            <a:avLst/>
          </a:prstGeom>
          <a:solidFill>
            <a:srgbClr val="4C0082"/>
          </a:solidFill>
          <a:ln>
            <a:solidFill>
              <a:srgbClr val="4C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Outcome </a:t>
            </a:r>
            <a:r>
              <a:rPr sz="1100" b="1" dirty="0" err="1">
                <a:solidFill>
                  <a:srgbClr val="FFFFFF"/>
                </a:solidFill>
              </a:rPr>
              <a:t>attesi</a:t>
            </a:r>
            <a:r>
              <a:rPr sz="1100" b="1" dirty="0">
                <a:solidFill>
                  <a:srgbClr val="FFFFFF"/>
                </a:solidFill>
              </a:rPr>
              <a:t> del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1378</Words>
  <Application>Microsoft Office PowerPoint</Application>
  <PresentationFormat>On-screen Show (16:9)</PresentationFormat>
  <Paragraphs>217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IAM – Copilota Operativo IAM</dc:title>
  <dc:subject>PptxGenJS Presentation</dc:subject>
  <dc:creator>PptxGenJS</dc:creator>
  <cp:lastModifiedBy>De Cinque, Daniele</cp:lastModifiedBy>
  <cp:revision>2</cp:revision>
  <dcterms:created xsi:type="dcterms:W3CDTF">2026-04-30T11:17:22Z</dcterms:created>
  <dcterms:modified xsi:type="dcterms:W3CDTF">2026-05-15T10:45:04Z</dcterms:modified>
</cp:coreProperties>
</file>